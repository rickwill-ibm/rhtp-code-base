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 FHIR  ·  CRD  ·  DTR  ·  PAS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Authorization Modernization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7D6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CRD / DTR / PAS Process Flow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 FHIR Provider Workflow for Procedures, Labs &amp; Imaging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Richard Williams, IBM  —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Legend &amp; Three-Part Structure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6FB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417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/ EMR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 SERVICE / DTR AGGREGATION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97A1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1554480" cy="594360"/>
          </a:xfrm>
          <a:prstGeom prst="diamond">
            <a:avLst/>
          </a:prstGeom>
          <a:solidFill>
            <a:srgbClr val="FBEAD2"/>
          </a:solidFill>
          <a:ln w="19050">
            <a:solidFill>
              <a:srgbClr val="C97A1D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1371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DCE9F6"/>
          </a:solidFill>
          <a:ln w="15875">
            <a:solidFill>
              <a:srgbClr val="1231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UI screen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2395728"/>
            <a:ext cx="1554480" cy="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13816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control 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11247120" cy="18288"/>
          </a:xfrm>
          <a:prstGeom prst="rect">
            <a:avLst/>
          </a:prstGeom>
          <a:solidFill>
            <a:srgbClr val="D8DEE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Comes in Three Parts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63500" dist="25400" dir="5400000">
              <a:srgbClr val="1B1B1B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160520"/>
            <a:ext cx="3611880" cy="73152"/>
          </a:xfrm>
          <a:prstGeom prst="rect">
            <a:avLst/>
          </a:prstGeom>
          <a:solidFill>
            <a:srgbClr val="1F6FB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6451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CRD — Coverage Requirements Discovery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5257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front-door check: is a PA required, and are eligibility, network, and guideline preconditions met?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51960" y="41605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63500" dist="25400" dir="5400000">
              <a:srgbClr val="1B1B1B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51960" y="4160520"/>
            <a:ext cx="361188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0" y="46451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DTR — Documentation &amp; Rules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80560" y="5257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 rules are matched against the patient's aggregated clinical history, gap by gap.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41605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63500" dist="25400" dir="5400000">
              <a:srgbClr val="1B1B1B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46720" y="4160520"/>
            <a:ext cx="3611880" cy="73152"/>
          </a:xfrm>
          <a:prstGeom prst="rect">
            <a:avLst/>
          </a:prstGeom>
          <a:solidFill>
            <a:srgbClr val="C97A1D"/>
          </a:solidFill>
          <a:ln/>
        </p:spPr>
      </p:sp>
      <p:sp>
        <p:nvSpPr>
          <p:cNvPr id="34" name="Text 32"/>
          <p:cNvSpPr/>
          <p:nvPr/>
        </p:nvSpPr>
        <p:spPr>
          <a:xfrm>
            <a:off x="827532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7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75320" y="46451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Submission, Tracking &amp; Adjudication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75320" y="5257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is submitted, tracked in the PA Portal, and the payer's decision is returned.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 ·  CRD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Requirements Discovery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1567160" cy="960120"/>
          </a:xfrm>
          <a:prstGeom prst="rect">
            <a:avLst/>
          </a:prstGeom>
          <a:solidFill>
            <a:srgbClr val="DCE9F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2103120"/>
            <a:ext cx="11567160" cy="3977640"/>
          </a:xfrm>
          <a:prstGeom prst="rect">
            <a:avLst/>
          </a:prstGeom>
          <a:solidFill>
            <a:srgbClr val="D9EF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51560"/>
            <a:ext cx="1234440" cy="960120"/>
          </a:xfrm>
          <a:prstGeom prst="roundRect">
            <a:avLst>
              <a:gd name="adj" fmla="val 5714"/>
            </a:avLst>
          </a:prstGeom>
          <a:solidFill>
            <a:srgbClr val="1F6FB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12344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EMR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1234440" cy="3977640"/>
          </a:xfrm>
          <a:prstGeom prst="roundRect">
            <a:avLst>
              <a:gd name="adj" fmla="val 4444"/>
            </a:avLst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103120"/>
            <a:ext cx="1234440" cy="3977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AUTH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91640" y="1188720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1188720"/>
            <a:ext cx="2697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places order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(CDS Hooks order-select / order-sign)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1485900"/>
            <a:ext cx="548640" cy="9144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18872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1188720"/>
            <a:ext cx="18745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 check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03620" y="1783080"/>
            <a:ext cx="9144" cy="54864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92040" y="2331720"/>
            <a:ext cx="2423160" cy="548640"/>
          </a:xfrm>
          <a:prstGeom prst="roundRect">
            <a:avLst>
              <a:gd name="adj" fmla="val 13333"/>
            </a:avLst>
          </a:prstGeom>
          <a:solidFill>
            <a:srgbClr val="D9EFEE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331720"/>
            <a:ext cx="2331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CRD hook to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 Service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74620" y="2880360"/>
            <a:ext cx="3429000" cy="3657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691640" y="324612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37360" y="3246120"/>
            <a:ext cx="18745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Eligibility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Enrollment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5172" y="2880360"/>
            <a:ext cx="1298448" cy="3657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22192" y="324612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67912" y="3246120"/>
            <a:ext cx="18745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Provider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Status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03620" y="2880360"/>
            <a:ext cx="832104" cy="3657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52744" y="324612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98464" y="3246120"/>
            <a:ext cx="18745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Milliman /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InterQual Guidelines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03620" y="2880360"/>
            <a:ext cx="2962656" cy="3657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83296" y="324612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29016" y="3246120"/>
            <a:ext cx="18745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PA-Required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(Policy Engine)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74620" y="3840480"/>
            <a:ext cx="3429000" cy="32004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05172" y="3840480"/>
            <a:ext cx="1298448" cy="32004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103620" y="3840480"/>
            <a:ext cx="832104" cy="32004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03620" y="3840480"/>
            <a:ext cx="2962656" cy="32004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617720" y="4160520"/>
            <a:ext cx="2971800" cy="868680"/>
          </a:xfrm>
          <a:prstGeom prst="diamond">
            <a:avLst/>
          </a:prstGeom>
          <a:solidFill>
            <a:srgbClr val="FBEAD2"/>
          </a:solidFill>
          <a:ln w="19050">
            <a:solidFill>
              <a:srgbClr val="C97A1D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41605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preconditions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14600" y="4983480"/>
            <a:ext cx="2377440" cy="3657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3200400" y="512064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234440" y="539496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B3261E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280160" y="5394960"/>
            <a:ext cx="2514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display reason;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manual review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15200" y="4983480"/>
            <a:ext cx="1051560" cy="3657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338060" y="512064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03720" y="5394960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0E7C7B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49440" y="5394960"/>
            <a:ext cx="4069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CDS Cards → CRD Checklist screen shown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items ✓, PA Required: Yes) → continue to Part II (DTR)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Modernization — CRD / DTR / PAS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 ·  DTR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Templates &amp; Rules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1567160" cy="5074920"/>
          </a:xfrm>
          <a:prstGeom prst="rect">
            <a:avLst/>
          </a:prstGeom>
          <a:solidFill>
            <a:srgbClr val="D9EF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51560"/>
            <a:ext cx="1234440" cy="5074920"/>
          </a:xfrm>
          <a:prstGeom prst="roundRect">
            <a:avLst>
              <a:gd name="adj" fmla="val 4444"/>
            </a:avLst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1234440" cy="5074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AUTH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DTR AGGREGATION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123444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37360" y="1234440"/>
            <a:ext cx="2514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Questionnaire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($questionnaire-package)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31920" y="1783080"/>
            <a:ext cx="9144" cy="32004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103120"/>
            <a:ext cx="2103120" cy="685800"/>
          </a:xfrm>
          <a:prstGeom prst="diamond">
            <a:avLst/>
          </a:prstGeom>
          <a:solidFill>
            <a:srgbClr val="FBEAD2"/>
          </a:solidFill>
          <a:ln w="19050">
            <a:solidFill>
              <a:srgbClr val="C97A1D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already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0360" y="2697480"/>
            <a:ext cx="182880" cy="41148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468880" y="285750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91640" y="310896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3736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parse via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Policy Engine (watsonx)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697480"/>
            <a:ext cx="822960" cy="41148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617720" y="285750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43400" y="310896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pre-embedded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+ CQL from FHIR server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80360" y="3703320"/>
            <a:ext cx="685800" cy="3657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80560" y="3703320"/>
            <a:ext cx="1051560" cy="3657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63240" y="406908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0E7C7B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0896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DTR SMART App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78040" y="123444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DCE9F6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clinical data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EMR (US Core v3)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555480" y="123444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BEAD2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0120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patient data from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Access API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0" y="1783080"/>
            <a:ext cx="822960" cy="54864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38360" y="1783080"/>
            <a:ext cx="868680" cy="54864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92440" y="233172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38160" y="2331720"/>
            <a:ext cx="29260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 PA Aggregation FHIR Server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(EMR data prioritized on conflict)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97880" y="2926080"/>
            <a:ext cx="2240280" cy="1389888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98080" y="2926080"/>
            <a:ext cx="2103120" cy="1389888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480560" y="4572000"/>
            <a:ext cx="9144" cy="32004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880360" y="493776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26080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CQL rules — match ICD-10/ICD-11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procedure codes to patient history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80760" y="5212080"/>
            <a:ext cx="457200" cy="9144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583680" y="493776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629400" y="4937760"/>
            <a:ext cx="3291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Medical Necessity Tree in DTR UI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 = green  /  Gap = flagged)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275320" y="5486400"/>
            <a:ext cx="9144" cy="27432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949440" y="5760720"/>
            <a:ext cx="2651760" cy="777240"/>
          </a:xfrm>
          <a:prstGeom prst="diamond">
            <a:avLst/>
          </a:prstGeom>
          <a:solidFill>
            <a:srgbClr val="FBEAD2"/>
          </a:solidFill>
          <a:ln w="19050">
            <a:solidFill>
              <a:srgbClr val="C97A1D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040880" y="5760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met?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6144768"/>
            <a:ext cx="2286000" cy="9144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5349240" y="630936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508760" y="580644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C97A1D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554480" y="5806440"/>
            <a:ext cx="31089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uploads supporting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(CDex) → re-run match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08960" y="5486400"/>
            <a:ext cx="9144" cy="32004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108960" y="5486400"/>
            <a:ext cx="1371600" cy="9144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Modernization — CRD / DTR / PAS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 ·  SUBMISSION &amp; 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Submission, Tracking &amp; Adjudication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1567160" cy="2514600"/>
          </a:xfrm>
          <a:prstGeom prst="rect">
            <a:avLst/>
          </a:prstGeom>
          <a:solidFill>
            <a:srgbClr val="D9EF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3566160"/>
            <a:ext cx="11567160" cy="1051560"/>
          </a:xfrm>
          <a:prstGeom prst="rect">
            <a:avLst/>
          </a:prstGeom>
          <a:solidFill>
            <a:srgbClr val="FBEAD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4617720"/>
            <a:ext cx="11567160" cy="1508760"/>
          </a:xfrm>
          <a:prstGeom prst="rect">
            <a:avLst/>
          </a:prstGeom>
          <a:solidFill>
            <a:srgbClr val="D9EF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051560"/>
            <a:ext cx="1234440" cy="2514600"/>
          </a:xfrm>
          <a:prstGeom prst="roundRect">
            <a:avLst>
              <a:gd name="adj" fmla="val 4444"/>
            </a:avLst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51560"/>
            <a:ext cx="1234440" cy="2514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AUTH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3566160"/>
            <a:ext cx="1234440" cy="1051560"/>
          </a:xfrm>
          <a:prstGeom prst="roundRect">
            <a:avLst>
              <a:gd name="adj" fmla="val 5217"/>
            </a:avLst>
          </a:prstGeom>
          <a:solidFill>
            <a:srgbClr val="C97A1D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3566160"/>
            <a:ext cx="123444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1234440" cy="1508760"/>
          </a:xfrm>
          <a:prstGeom prst="roundRect">
            <a:avLst>
              <a:gd name="adj" fmla="val 4444"/>
            </a:avLst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4617720"/>
            <a:ext cx="123444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91640" y="123444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3736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channel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(payer capability)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508760"/>
            <a:ext cx="411480" cy="9144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97680" y="1188720"/>
            <a:ext cx="2011680" cy="777240"/>
          </a:xfrm>
          <a:prstGeom prst="diamond">
            <a:avLst/>
          </a:prstGeom>
          <a:solidFill>
            <a:srgbClr val="FBEAD2"/>
          </a:solidFill>
          <a:ln w="19050">
            <a:solidFill>
              <a:srgbClr val="C97A1D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1188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supports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PAS?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66160" y="1965960"/>
            <a:ext cx="960120" cy="3657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543300" y="2093976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91640" y="2331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3736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PASBundle via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Claim/$submit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0760" y="1965960"/>
            <a:ext cx="1005840" cy="3657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080760" y="2093976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2331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0644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X12 278 + 275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EDI Translator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63240" y="2880360"/>
            <a:ext cx="1554480" cy="18288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17720" y="2880360"/>
            <a:ext cx="2514600" cy="18288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63240" y="306324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10896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 Number + Create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Record (Submitted / Pended)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3291840"/>
            <a:ext cx="228600" cy="9144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46520" y="306324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Evidence Record (PDF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PASBundle + match criteria)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17720" y="3566160"/>
            <a:ext cx="9144" cy="1371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063240" y="370332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BEAD2"/>
          </a:solidFill>
          <a:ln w="15875">
            <a:solidFill>
              <a:srgbClr val="C97A1D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0896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adjudicates request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954780"/>
            <a:ext cx="822960" cy="9144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040880" y="370332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7A1D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86600" y="3703320"/>
            <a:ext cx="2926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ClaimResponse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(reviewAction: Approved / Denied / Modified / Pended)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549640" y="4206240"/>
            <a:ext cx="9144" cy="594360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806440" y="4800600"/>
            <a:ext cx="2743200" cy="9144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017520" y="480060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063240" y="4800600"/>
            <a:ext cx="26974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notifies of status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(rest-hook)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06440" y="5074920"/>
            <a:ext cx="502920" cy="9144"/>
          </a:xfrm>
          <a:prstGeom prst="line">
            <a:avLst/>
          </a:prstGeom>
          <a:noFill/>
          <a:ln w="22225">
            <a:solidFill>
              <a:srgbClr val="6B7A8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355080" y="48006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5875">
            <a:solidFill>
              <a:srgbClr val="12314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0800" y="4800600"/>
            <a:ext cx="29260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Portal updated — status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provider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017520" y="5440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Claim/$inquiry available as a manual polling fallback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Modernization — CRD / DTR / PAS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Summary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0848" y="22860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1F6FB3"/>
          </a:solidFill>
          <a:ln/>
          <a:effectLst>
            <a:outerShdw sx="100000" sy="100000" kx="0" ky="0" algn="bl" rotWithShape="0" blurRad="63500" dist="25400" dir="5400000">
              <a:srgbClr val="1B1B1B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2288" y="2359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2288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2288" y="31272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Hooks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order-select/sign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72488" y="2994660"/>
            <a:ext cx="256032" cy="9144"/>
          </a:xfrm>
          <a:prstGeom prst="line">
            <a:avLst/>
          </a:prstGeom>
          <a:noFill/>
          <a:ln w="2540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28520" y="22860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0E7C7B"/>
          </a:solidFill>
          <a:ln/>
          <a:effectLst>
            <a:outerShdw sx="100000" sy="100000" kx="0" ky="0" algn="bl" rotWithShape="0" blurRad="63500" dist="25400" dir="5400000">
              <a:srgbClr val="1B1B1B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19960" y="2359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19960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 Checklist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19960" y="31272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Eligibility, network,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guidelines, PA required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0160" y="2994660"/>
            <a:ext cx="256032" cy="9144"/>
          </a:xfrm>
          <a:prstGeom prst="line">
            <a:avLst/>
          </a:prstGeom>
          <a:noFill/>
          <a:ln w="2540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76192" y="22860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0E7C7B"/>
          </a:solidFill>
          <a:ln/>
          <a:effectLst>
            <a:outerShdw sx="100000" sy="100000" kx="0" ky="0" algn="bl" rotWithShape="0" blurRad="63500" dist="25400" dir="5400000">
              <a:srgbClr val="1B1B1B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67632" y="2359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67632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DTR Match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67632" y="31272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vs. patient history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67832" y="2994660"/>
            <a:ext cx="256032" cy="9144"/>
          </a:xfrm>
          <a:prstGeom prst="line">
            <a:avLst/>
          </a:prstGeom>
          <a:noFill/>
          <a:ln w="2540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3864" y="22860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C97A1D"/>
          </a:solidFill>
          <a:ln/>
          <a:effectLst>
            <a:outerShdw sx="100000" sy="100000" kx="0" ky="0" algn="bl" rotWithShape="0" blurRad="63500" dist="25400" dir="5400000">
              <a:srgbClr val="1B1B1B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15304" y="2359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15304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15304" y="31272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PASBundle 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X12 278/275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15504" y="2994660"/>
            <a:ext cx="256032" cy="9144"/>
          </a:xfrm>
          <a:prstGeom prst="line">
            <a:avLst/>
          </a:prstGeom>
          <a:noFill/>
          <a:ln w="2540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71536" y="22860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C97A1D"/>
          </a:solidFill>
          <a:ln/>
          <a:effectLst>
            <a:outerShdw sx="100000" sy="100000" kx="0" ky="0" algn="bl" rotWithShape="0" blurRad="63500" dist="25400" dir="5400000">
              <a:srgbClr val="1B1B1B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62976" y="2359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62976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62976" y="31272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returns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ClaimResponse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863176" y="2994660"/>
            <a:ext cx="256032" cy="9144"/>
          </a:xfrm>
          <a:prstGeom prst="line">
            <a:avLst/>
          </a:prstGeom>
          <a:noFill/>
          <a:ln w="2540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19208" y="22860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12314F"/>
          </a:solidFill>
          <a:ln/>
          <a:effectLst>
            <a:outerShdw sx="100000" sy="100000" kx="0" ky="0" algn="bl" rotWithShape="0" blurRad="63500" dist="25400" dir="5400000">
              <a:srgbClr val="1B1B1B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210648" y="2359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210648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Portal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210648" y="31272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tracked 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Record stored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0848" y="3931920"/>
            <a:ext cx="3639312" cy="45720"/>
          </a:xfrm>
          <a:prstGeom prst="rect">
            <a:avLst/>
          </a:prstGeom>
          <a:solidFill>
            <a:srgbClr val="1F6FB3"/>
          </a:solidFill>
          <a:ln/>
        </p:spPr>
      </p:sp>
      <p:sp>
        <p:nvSpPr>
          <p:cNvPr id="34" name="Text 32"/>
          <p:cNvSpPr/>
          <p:nvPr/>
        </p:nvSpPr>
        <p:spPr>
          <a:xfrm>
            <a:off x="380848" y="402336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CRD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76192" y="3931920"/>
            <a:ext cx="1691640" cy="45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6" name="Text 34"/>
          <p:cNvSpPr/>
          <p:nvPr/>
        </p:nvSpPr>
        <p:spPr>
          <a:xfrm>
            <a:off x="4276192" y="4023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DTR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23864" y="3931920"/>
            <a:ext cx="5586984" cy="45720"/>
          </a:xfrm>
          <a:prstGeom prst="rect">
            <a:avLst/>
          </a:prstGeom>
          <a:solidFill>
            <a:srgbClr val="C97A1D"/>
          </a:solidFill>
          <a:ln/>
        </p:spPr>
      </p:sp>
      <p:sp>
        <p:nvSpPr>
          <p:cNvPr id="38" name="Text 36"/>
          <p:cNvSpPr/>
          <p:nvPr/>
        </p:nvSpPr>
        <p:spPr>
          <a:xfrm>
            <a:off x="6223864" y="4023360"/>
            <a:ext cx="5586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7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SUBMISSION, TRACKING &amp; ADJUDICATION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goal: deterministic checks (eligibility, network, structured-data matching) resolve without human review; manual review is reserved for genuine documentation gaps and low-confidence, NLP-derived matches.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Modernization — CRD / DTR / PAS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2026-07-28T13:32:12Z</dcterms:created>
  <dcterms:modified xsi:type="dcterms:W3CDTF">2026-07-28T13:32:12Z</dcterms:modified>
</cp:coreProperties>
</file>